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70c3fdec214102" /><Relationship Type="http://schemas.openxmlformats.org/officeDocument/2006/relationships/extended-properties" Target="/docProps/app.xml" Id="Rb5d7a5af481f418a" /><Relationship Type="http://schemas.openxmlformats.org/officeDocument/2006/relationships/officeDocument" Target="/ppt/presentation.xml" Id="R7c21b018164741e6" /></Relationships>
</file>

<file path=ppt/presentation.xml><?xml version="1.0" encoding="utf-8"?>
<p:presentation xmlns:p="http://schemas.openxmlformats.org/presentationml/2006/main">
  <p:sldMasterIdLst>
    <p:sldMasterId xmlns:r="http://schemas.openxmlformats.org/officeDocument/2006/relationships" id="2147483648" r:id="R52ae3ba497f747d5"/>
  </p:sldMasterIdLst>
  <p:notesMasterIdLst>
    <p:notesMasterId xmlns:r="http://schemas.openxmlformats.org/officeDocument/2006/relationships" r:id="R6fc57c5242ae4aa1"/>
  </p:notesMasterIdLst>
  <p:sldIdLst>
    <p:sldId xmlns:r="http://schemas.openxmlformats.org/officeDocument/2006/relationships" id="256" r:id="R5b60c200ea6e4608"/>
    <p:sldId xmlns:r="http://schemas.openxmlformats.org/officeDocument/2006/relationships" id="257" r:id="Rbdca157fae0543c8"/>
    <p:sldId xmlns:r="http://schemas.openxmlformats.org/officeDocument/2006/relationships" id="258" r:id="Rfdc9266fe6794aca"/>
    <p:sldId xmlns:r="http://schemas.openxmlformats.org/officeDocument/2006/relationships" id="259" r:id="Re339121a71954e02"/>
    <p:sldId xmlns:r="http://schemas.openxmlformats.org/officeDocument/2006/relationships" id="260" r:id="Rae5fc73a7d74438f"/>
    <p:sldId xmlns:r="http://schemas.openxmlformats.org/officeDocument/2006/relationships" id="261" r:id="Rf5641680c1d34e19"/>
    <p:sldId xmlns:r="http://schemas.openxmlformats.org/officeDocument/2006/relationships" id="262" r:id="R702d79ec50ac4908"/>
    <p:sldId xmlns:r="http://schemas.openxmlformats.org/officeDocument/2006/relationships" id="263" r:id="Rb55e65e0a24641d9"/>
    <p:sldId xmlns:r="http://schemas.openxmlformats.org/officeDocument/2006/relationships" id="264" r:id="Rafbd1c3434854c2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f07f0fd1f444f0" /><Relationship Type="http://schemas.openxmlformats.org/officeDocument/2006/relationships/slideMaster" Target="/ppt/slideMasters/slideMaster1.xml" Id="R52ae3ba497f747d5" /><Relationship Type="http://schemas.openxmlformats.org/officeDocument/2006/relationships/notesMaster" Target="/ppt/notesMasters/notesMaster1.xml" Id="R6fc57c5242ae4aa1" /><Relationship Type="http://schemas.openxmlformats.org/officeDocument/2006/relationships/presProps" Target="/ppt/presProps.xml" Id="Rebac84e07b5b4509" /><Relationship Type="http://schemas.openxmlformats.org/officeDocument/2006/relationships/tableStyles" Target="/ppt/tableStyles.xml" Id="R201e35d7e2b947c2" /><Relationship Type="http://schemas.openxmlformats.org/officeDocument/2006/relationships/slide" Target="/ppt/slides/slide1.xml" Id="R5b60c200ea6e4608" /><Relationship Type="http://schemas.openxmlformats.org/officeDocument/2006/relationships/slide" Target="/ppt/slides/slide2.xml" Id="Rbdca157fae0543c8" /><Relationship Type="http://schemas.openxmlformats.org/officeDocument/2006/relationships/slide" Target="/ppt/slides/slide3.xml" Id="Rfdc9266fe6794aca" /><Relationship Type="http://schemas.openxmlformats.org/officeDocument/2006/relationships/slide" Target="/ppt/slides/slide4.xml" Id="Re339121a71954e02" /><Relationship Type="http://schemas.openxmlformats.org/officeDocument/2006/relationships/slide" Target="/ppt/slides/slide5.xml" Id="Rae5fc73a7d74438f" /><Relationship Type="http://schemas.openxmlformats.org/officeDocument/2006/relationships/slide" Target="/ppt/slides/slide6.xml" Id="Rf5641680c1d34e19" /><Relationship Type="http://schemas.openxmlformats.org/officeDocument/2006/relationships/slide" Target="/ppt/slides/slide7.xml" Id="R702d79ec50ac4908" /><Relationship Type="http://schemas.openxmlformats.org/officeDocument/2006/relationships/slide" Target="/ppt/slides/slide8.xml" Id="Rb55e65e0a24641d9" /><Relationship Type="http://schemas.openxmlformats.org/officeDocument/2006/relationships/slide" Target="/ppt/slides/slide9.xml" Id="Rafbd1c3434854c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2d90156b1644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2134f915be4ab9" /><Relationship Type="http://schemas.openxmlformats.org/officeDocument/2006/relationships/notesMaster" Target="/ppt/notesMasters/notesMaster1.xml" Id="R908a36ada01746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feb3e08b394a49" /><Relationship Type="http://schemas.openxmlformats.org/officeDocument/2006/relationships/notesMaster" Target="/ppt/notesMasters/notesMaster1.xml" Id="R4dba305e1e6442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909233fb224be8" /><Relationship Type="http://schemas.openxmlformats.org/officeDocument/2006/relationships/notesMaster" Target="/ppt/notesMasters/notesMaster1.xml" Id="Re0dda84605ca42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0c6ca3a4fd4c95" /><Relationship Type="http://schemas.openxmlformats.org/officeDocument/2006/relationships/notesMaster" Target="/ppt/notesMasters/notesMaster1.xml" Id="Ra0bed0f81b7a4d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8ea55d899c450c" /><Relationship Type="http://schemas.openxmlformats.org/officeDocument/2006/relationships/notesMaster" Target="/ppt/notesMasters/notesMaster1.xml" Id="R9bc605215f19487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15d94b7b70410a" /><Relationship Type="http://schemas.openxmlformats.org/officeDocument/2006/relationships/notesMaster" Target="/ppt/notesMasters/notesMaster1.xml" Id="Rca817dcfc1124d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aa980db336456f" /><Relationship Type="http://schemas.openxmlformats.org/officeDocument/2006/relationships/notesMaster" Target="/ppt/notesMasters/notesMaster1.xml" Id="Rc7dc5eeae80c41d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cfab242b404da0" /><Relationship Type="http://schemas.openxmlformats.org/officeDocument/2006/relationships/notesMaster" Target="/ppt/notesMasters/notesMaster1.xml" Id="R7d225db3c2f248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7a2fc45a7b74dd8" /><Relationship Type="http://schemas.openxmlformats.org/officeDocument/2006/relationships/notesMaster" Target="/ppt/notesMasters/notesMaster1.xml" Id="R263c23fc5adb42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 is an open ecosystem for agents that can do useful work. We're building it around a simple goal: people should understand what an agent can do, even when it delegates.</a:t>
            </a:r>
          </a:p>
          <a:p xmlns:a="http://schemas.openxmlformats.org/drawingml/2006/main">
            <a:r>
              <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may discover a tool, ask another agent for help, or act on sensitive information. Each step needs a clear identity and permission boundary. Finding a capability should never grant permission to use it.</a:t>
            </a:r>
          </a:p>
          <a:p xmlns:a="http://schemas.openxmlformats.org/drawingml/2006/main">
            <a:r>
              <a:t/>
            </a:r>
          </a:p>
          <a:p xmlns:a="http://schemas.openxmlformats.org/drawingml/2006/main">
            <a:r>
              <a:t>Sources: AstralDeep/AGENTS.md</a:t>
            </a:r>
          </a:p>
          <a:p xmlns:a="http://schemas.openxmlformats.org/drawingml/2006/main">
            <a:r>
              <a:t>LETS/.specify/memory/constitution.md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LETS enforcement enabled, delegation has explicit limits. A child lease receives only a bounded share of its parent's authority and resource budget, with an expiry. The executor verifies and durably claims a receipt before the protected action.</a:t>
            </a:r>
          </a:p>
          <a:p xmlns:a="http://schemas.openxmlformats.org/drawingml/2006/main">
            <a:r>
              <a:t/>
            </a:r>
          </a:p>
          <a:p xmlns:a="http://schemas.openxmlformats.org/drawingml/2006/main">
            <a:r>
              <a:t>Sources: LETS/.specify/memory/constitution.md</a:t>
            </a:r>
          </a:p>
          <a:p xmlns:a="http://schemas.openxmlformats.org/drawingml/2006/main">
            <a:r>
              <a:t>AstralDeep/specs/074-multirepo-lets-integration/spec.md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Deep's design keeps identity, tool policy, and owner isolation on the normal dispatch path. Sensitive actions need the appropriate checks and confirmation. Audit provenance helps explain who authorized an action and how authority reached it.</a:t>
            </a:r>
          </a:p>
          <a:p xmlns:a="http://schemas.openxmlformats.org/drawingml/2006/main">
            <a:r>
              <a:t/>
            </a:r>
          </a:p>
          <a:p xmlns:a="http://schemas.openxmlformats.org/drawingml/2006/main">
            <a:r>
              <a:t>Sources: AstralDeep/AGENTS.md</a:t>
            </a:r>
          </a:p>
          <a:p xmlns:a="http://schemas.openxmlformats.org/drawingml/2006/main">
            <a:r>
              <a:t>AstralDeep/.specify/memory/constitution.md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agents also need useful interfaces. A model can propose a form, table, or chart using structured UI primitives. Code checks component types and references, bounds the layout, and escapes web content before rendering. The model proposes. Code decides.</a:t>
            </a:r>
          </a:p>
          <a:p xmlns:a="http://schemas.openxmlformats.org/drawingml/2006/main">
            <a:r>
              <a:t/>
            </a:r>
          </a:p>
          <a:p xmlns:a="http://schemas.openxmlformats.org/drawingml/2006/main">
            <a:r>
              <a:t>Sources: AstralDeep/AGENTS.md</a:t>
            </a:r>
          </a:p>
          <a:p xmlns:a="http://schemas.openxmlformats.org/drawingml/2006/main">
            <a:r>
              <a:t>AstralPrimitives/README.md</a:t>
            </a:r>
          </a:p>
          <a:p xmlns:a="http://schemas.openxmlformats.org/drawingml/2006/main">
            <a:r>
              <a:t>AstralProjection/.specify/memory/constitution.md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Astral Primitives defines the vocabulary. Astral Projection renders and adapts it for web and native clients. Astral Deep orchestrates the work, while Astral Plane owns durable state. The goal is consistent meaning across devices, with components other developers can reuse.</a:t>
            </a:r>
          </a:p>
          <a:p xmlns:a="http://schemas.openxmlformats.org/drawingml/2006/main">
            <a:r>
              <a:t/>
            </a:r>
          </a:p>
          <a:p xmlns:a="http://schemas.openxmlformats.org/drawingml/2006/main">
            <a:r>
              <a:t>Sources: AstralDeep/AGENTS.md</a:t>
            </a:r>
          </a:p>
          <a:p xmlns:a="http://schemas.openxmlformats.org/drawingml/2006/main">
            <a:r>
              <a:t>AstralProjection/README.md</a:t>
            </a:r>
          </a:p>
          <a:p xmlns:a="http://schemas.openxmlformats.org/drawingml/2006/main">
            <a:r>
              <a:t>AstralPlane/README.md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these parts to connect through standard M C P, Agent to Agent, and other agent communication protocols. That means versioned contracts, compatibility tests, and examples that work outside the full Astral stack.</a:t>
            </a:r>
          </a:p>
          <a:p xmlns:a="http://schemas.openxmlformats.org/drawingml/2006/main">
            <a:r>
              <a:t/>
            </a:r>
          </a:p>
          <a:p xmlns:a="http://schemas.openxmlformats.org/drawingml/2006/main">
            <a:r>
              <a:t>Sources: AstralDeep/AGENTS.md</a:t>
            </a:r>
          </a:p>
          <a:p xmlns:a="http://schemas.openxmlformats.org/drawingml/2006/main">
            <a:r>
              <a:t>AstralDeep/specs/074-multirepo-lets-integration/spec.md</a:t>
            </a:r>
          </a:p>
          <a:p xmlns:a="http://schemas.openxmlformats.org/drawingml/2006/main">
            <a:r>
              <a:t>Owner priorities,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concrete work to do. Help test delegation boundaries, improve protocol compatibility, or make voice survive interruptions and reconnects, especially on mobile. Better primitive rendering, client parity, and independent examples can make the system useful to more developers.</a:t>
            </a:r>
          </a:p>
          <a:p xmlns:a="http://schemas.openxmlformats.org/drawingml/2006/main">
            <a:r>
              <a:t/>
            </a:r>
          </a:p>
          <a:p xmlns:a="http://schemas.openxmlformats.org/drawingml/2006/main">
            <a:r>
              <a:t>Sources: AstralDeep/specs/065-conversational-voice/spec.md</a:t>
            </a:r>
          </a:p>
          <a:p xmlns:a="http://schemas.openxmlformats.org/drawingml/2006/main">
            <a:r>
              <a:t>AstralDeep/specs/075-client-local-speech/spec.md</a:t>
            </a:r>
          </a:p>
          <a:p xmlns:a="http://schemas.openxmlformats.org/drawingml/2006/main">
            <a:r>
              <a:t>Approved bounty review, 2026-10-01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bounty board turns these goals into tasks across five repositories. Choose a task, request a claim, and wait for your reservation before starting. Accepted, reviewed work earns recognition points on the leaderboard. Join us at astral deep dot github dot I O.</a:t>
            </a:r>
          </a:p>
          <a:p xmlns:a="http://schemas.openxmlformats.org/drawingml/2006/main">
            <a:r>
              <a:t/>
            </a:r>
          </a:p>
          <a:p xmlns:a="http://schemas.openxmlformats.org/drawingml/2006/main">
            <a:r>
              <a:t>Sources: astraldeep.github.io/contribute.html</a:t>
            </a:r>
          </a:p>
          <a:p xmlns:a="http://schemas.openxmlformats.org/drawingml/2006/main">
            <a:r>
              <a:t>AstralDeep/astraldeep.github.io/data/config.json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625360308440d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f8e127fe414707" /><Relationship Type="http://schemas.openxmlformats.org/officeDocument/2006/relationships/slideLayout" Target="/ppt/slideLayouts/slideLayout1.xml" Id="Rc64d57ad2fbb4a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64d57ad2fbb4a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1327ce1cf374866" /><Relationship Type="http://schemas.openxmlformats.org/officeDocument/2006/relationships/image" Target="/ppt/media/image.png" Id="R2af223731f214316" /><Relationship Type="http://schemas.openxmlformats.org/officeDocument/2006/relationships/notesSlide" Target="/ppt/notesSlides/notesSlide1.xml" Id="Rc036c3e0f05548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939ef6e1d243d7" /><Relationship Type="http://schemas.openxmlformats.org/officeDocument/2006/relationships/image" Target="/ppt/media/image2.png" Id="R049b3b8e42b64008" /><Relationship Type="http://schemas.openxmlformats.org/officeDocument/2006/relationships/notesSlide" Target="/ppt/notesSlides/notesSlide2.xml" Id="R7619b2f4005a41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ca6d6dad564232" /><Relationship Type="http://schemas.openxmlformats.org/officeDocument/2006/relationships/image" Target="/ppt/media/image3.png" Id="Racaedfd195f64cf9" /><Relationship Type="http://schemas.openxmlformats.org/officeDocument/2006/relationships/notesSlide" Target="/ppt/notesSlides/notesSlide3.xml" Id="Rf258e5eafe9d4c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156222989b348a7" /><Relationship Type="http://schemas.openxmlformats.org/officeDocument/2006/relationships/image" Target="/ppt/media/image4.png" Id="Rcb38930457bc48f9" /><Relationship Type="http://schemas.openxmlformats.org/officeDocument/2006/relationships/notesSlide" Target="/ppt/notesSlides/notesSlide4.xml" Id="R9376043f725a40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994cb28e7e4781" /><Relationship Type="http://schemas.openxmlformats.org/officeDocument/2006/relationships/image" Target="/ppt/media/image5.png" Id="R4cd19b2583b54621" /><Relationship Type="http://schemas.openxmlformats.org/officeDocument/2006/relationships/notesSlide" Target="/ppt/notesSlides/notesSlide5.xml" Id="Rb988111d9ad349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82a9f97a9f342ce" /><Relationship Type="http://schemas.openxmlformats.org/officeDocument/2006/relationships/image" Target="/ppt/media/image6.png" Id="Rfd088c80f8c443c5" /><Relationship Type="http://schemas.openxmlformats.org/officeDocument/2006/relationships/notesSlide" Target="/ppt/notesSlides/notesSlide6.xml" Id="Rfdfd4750791e44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4ac06b8a49f456c" /><Relationship Type="http://schemas.openxmlformats.org/officeDocument/2006/relationships/image" Target="/ppt/media/image7.png" Id="Rfee445865662452b" /><Relationship Type="http://schemas.openxmlformats.org/officeDocument/2006/relationships/notesSlide" Target="/ppt/notesSlides/notesSlide7.xml" Id="Ref5665fc0fa846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0cb7ee2d2b41f9" /><Relationship Type="http://schemas.openxmlformats.org/officeDocument/2006/relationships/image" Target="/ppt/media/image8.png" Id="R9f7637a20f1e48c2" /><Relationship Type="http://schemas.openxmlformats.org/officeDocument/2006/relationships/notesSlide" Target="/ppt/notesSlides/notesSlide8.xml" Id="Rf0961b97d24746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34d21dcea824a2b" /><Relationship Type="http://schemas.openxmlformats.org/officeDocument/2006/relationships/image" Target="/ppt/media/image9.png" Id="R8274189e8d564237" /><Relationship Type="http://schemas.openxmlformats.org/officeDocument/2006/relationships/notesSlide" Target="/ppt/notesSlides/notesSlide9.xml" Id="Rfe26e24299704aac" /></Relationships>
</file>

<file path=ppt/slides/slide1.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2af223731f214316"/>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2C5254-E554-45DE-A451-9E55D5AC0E43}"/>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An open agent ecosystem</a:t>
            </a:r>
          </a:p>
        </p:txBody>
      </p:sp>
      <p:sp>
        <p:nvSpPr>
          <p:cNvPr id="3" name="">
            <a:extLst xmlns:a="http://schemas.openxmlformats.org/drawingml/2006/main">
              <a:ext uri="{FF2B5EF4-FFF2-40B4-BE49-F238E27FC236}">
                <a16:creationId xmlns:a16="http://schemas.microsoft.com/office/drawing/2014/main" id="{ECAF546D-A214-4D09-9AE5-87ABEAFDE106}"/>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Agents that can do useful work</a:t>
            </a:r>
          </a:p>
        </p:txBody>
      </p:sp>
      <p:sp>
        <p:nvSpPr>
          <p:cNvPr id="4" name="">
            <a:extLst xmlns:a="http://schemas.openxmlformats.org/drawingml/2006/main">
              <a:ext uri="{FF2B5EF4-FFF2-40B4-BE49-F238E27FC236}">
                <a16:creationId xmlns:a16="http://schemas.microsoft.com/office/drawing/2014/main" id="{A633EAD0-7845-401C-943F-8B4B9515C7A1}"/>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Authority people can understand</a:t>
            </a:r>
          </a:p>
        </p:txBody>
      </p:sp>
      <p:sp>
        <p:nvSpPr>
          <p:cNvPr id="5" name="">
            <a:extLst xmlns:a="http://schemas.openxmlformats.org/drawingml/2006/main">
              <a:ext uri="{FF2B5EF4-FFF2-40B4-BE49-F238E27FC236}">
                <a16:creationId xmlns:a16="http://schemas.microsoft.com/office/drawing/2014/main" id="{3D743AE8-C200-403D-8A8A-9ECC1AFBBF44}"/>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01 / 09</a:t>
            </a:r>
          </a:p>
        </p:txBody>
      </p:sp>
    </p:spTree>
    <p:extLst>
      <p:ext uri="{BB962C8B-B14F-4D97-AF65-F5344CB8AC3E}">
        <p14:creationId xmlns:p14="http://schemas.microsoft.com/office/powerpoint/2010/main" val="570790328"/>
      </p:ext>
    </p:extLst>
  </p:cSld>
</p:sld>
</file>

<file path=ppt/slides/slide2.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49b3b8e42b64008"/>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788D043-6536-4AE0-88AA-A301F6AB6E0F}"/>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Authority follows the task</a:t>
            </a:r>
          </a:p>
        </p:txBody>
      </p:sp>
      <p:sp>
        <p:nvSpPr>
          <p:cNvPr id="3" name="">
            <a:extLst xmlns:a="http://schemas.openxmlformats.org/drawingml/2006/main">
              <a:ext uri="{FF2B5EF4-FFF2-40B4-BE49-F238E27FC236}">
                <a16:creationId xmlns:a16="http://schemas.microsoft.com/office/drawing/2014/main" id="{4C684982-3EF6-4DF4-9814-283E589ACD97}"/>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Who asked?</a:t>
            </a:r>
          </a:p>
        </p:txBody>
      </p:sp>
      <p:sp>
        <p:nvSpPr>
          <p:cNvPr id="4" name="">
            <a:extLst xmlns:a="http://schemas.openxmlformats.org/drawingml/2006/main">
              <a:ext uri="{FF2B5EF4-FFF2-40B4-BE49-F238E27FC236}">
                <a16:creationId xmlns:a16="http://schemas.microsoft.com/office/drawing/2014/main" id="{2D840036-41EE-49BB-A6D9-4ED85F61F0D8}"/>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Which actions are allowed?</a:t>
            </a:r>
          </a:p>
        </p:txBody>
      </p:sp>
      <p:sp>
        <p:nvSpPr>
          <p:cNvPr id="5" name="">
            <a:extLst xmlns:a="http://schemas.openxmlformats.org/drawingml/2006/main">
              <a:ext uri="{FF2B5EF4-FFF2-40B4-BE49-F238E27FC236}">
                <a16:creationId xmlns:a16="http://schemas.microsoft.com/office/drawing/2014/main" id="{9B43AD06-0848-4E25-ADB3-698576D06E27}"/>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When does permission end?</a:t>
            </a:r>
          </a:p>
        </p:txBody>
      </p:sp>
      <p:sp>
        <p:nvSpPr>
          <p:cNvPr id="6" name="">
            <a:extLst xmlns:a="http://schemas.openxmlformats.org/drawingml/2006/main">
              <a:ext uri="{FF2B5EF4-FFF2-40B4-BE49-F238E27FC236}">
                <a16:creationId xmlns:a16="http://schemas.microsoft.com/office/drawing/2014/main" id="{C6B5C3B7-F10D-4AD4-8920-15E7166102D8}"/>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02 / 09</a:t>
            </a:r>
          </a:p>
        </p:txBody>
      </p:sp>
    </p:spTree>
    <p:extLst>
      <p:ext uri="{BB962C8B-B14F-4D97-AF65-F5344CB8AC3E}">
        <p14:creationId xmlns:p14="http://schemas.microsoft.com/office/powerpoint/2010/main" val="735067352"/>
      </p:ext>
    </p:extLst>
  </p:cSld>
</p:sld>
</file>

<file path=ppt/slides/slide3.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caedfd195f64cf9"/>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6D4522A-3347-4D42-B3F5-572AEBF29368}"/>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Bounded delegation with LETS</a:t>
            </a:r>
          </a:p>
        </p:txBody>
      </p:sp>
      <p:sp>
        <p:nvSpPr>
          <p:cNvPr id="3" name="">
            <a:extLst xmlns:a="http://schemas.openxmlformats.org/drawingml/2006/main">
              <a:ext uri="{FF2B5EF4-FFF2-40B4-BE49-F238E27FC236}">
                <a16:creationId xmlns:a16="http://schemas.microsoft.com/office/drawing/2014/main" id="{B0A06914-0805-435A-AEEE-6EF400AEBEAC}"/>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Parent authority</a:t>
            </a:r>
          </a:p>
        </p:txBody>
      </p:sp>
      <p:sp>
        <p:nvSpPr>
          <p:cNvPr id="4" name="">
            <a:extLst xmlns:a="http://schemas.openxmlformats.org/drawingml/2006/main">
              <a:ext uri="{FF2B5EF4-FFF2-40B4-BE49-F238E27FC236}">
                <a16:creationId xmlns:a16="http://schemas.microsoft.com/office/drawing/2014/main" id="{8CE9BA0D-E83C-4434-88D6-0F0750C62CD8}"/>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Narrower child permissions</a:t>
            </a:r>
          </a:p>
        </p:txBody>
      </p:sp>
      <p:sp>
        <p:nvSpPr>
          <p:cNvPr id="5" name="">
            <a:extLst xmlns:a="http://schemas.openxmlformats.org/drawingml/2006/main">
              <a:ext uri="{FF2B5EF4-FFF2-40B4-BE49-F238E27FC236}">
                <a16:creationId xmlns:a16="http://schemas.microsoft.com/office/drawing/2014/main" id="{5D114422-7D64-4F5B-9F33-A4DC3BF9BC2E}"/>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Finite budgets and expiry</a:t>
            </a:r>
          </a:p>
        </p:txBody>
      </p:sp>
      <p:sp>
        <p:nvSpPr>
          <p:cNvPr id="6" name="">
            <a:extLst xmlns:a="http://schemas.openxmlformats.org/drawingml/2006/main">
              <a:ext uri="{FF2B5EF4-FFF2-40B4-BE49-F238E27FC236}">
                <a16:creationId xmlns:a16="http://schemas.microsoft.com/office/drawing/2014/main" id="{0FCCCC58-80FF-40F4-9151-82D8E6A305F0}"/>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03 / 09</a:t>
            </a:r>
          </a:p>
        </p:txBody>
      </p:sp>
    </p:spTree>
    <p:extLst>
      <p:ext uri="{BB962C8B-B14F-4D97-AF65-F5344CB8AC3E}">
        <p14:creationId xmlns:p14="http://schemas.microsoft.com/office/powerpoint/2010/main" val="1425741241"/>
      </p:ext>
    </p:extLst>
  </p:cSld>
</p:sld>
</file>

<file path=ppt/slides/slide4.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b38930457bc48f9"/>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DB1D896-5CE8-4CCD-A75C-E6188AC1D7AC}"/>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Checks at the action boundary</a:t>
            </a:r>
          </a:p>
        </p:txBody>
      </p:sp>
      <p:sp>
        <p:nvSpPr>
          <p:cNvPr id="3" name="">
            <a:extLst xmlns:a="http://schemas.openxmlformats.org/drawingml/2006/main">
              <a:ext uri="{FF2B5EF4-FFF2-40B4-BE49-F238E27FC236}">
                <a16:creationId xmlns:a16="http://schemas.microsoft.com/office/drawing/2014/main" id="{9AEA1AC7-59F0-4168-9760-87AA6623EED0}"/>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Identity and owner isolation</a:t>
            </a:r>
          </a:p>
        </p:txBody>
      </p:sp>
      <p:sp>
        <p:nvSpPr>
          <p:cNvPr id="4" name="">
            <a:extLst xmlns:a="http://schemas.openxmlformats.org/drawingml/2006/main">
              <a:ext uri="{FF2B5EF4-FFF2-40B4-BE49-F238E27FC236}">
                <a16:creationId xmlns:a16="http://schemas.microsoft.com/office/drawing/2014/main" id="{17F555FC-61D8-459F-9BB9-2C39603119CF}"/>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Tool policy and confirmation</a:t>
            </a:r>
          </a:p>
        </p:txBody>
      </p:sp>
      <p:sp>
        <p:nvSpPr>
          <p:cNvPr id="5" name="">
            <a:extLst xmlns:a="http://schemas.openxmlformats.org/drawingml/2006/main">
              <a:ext uri="{FF2B5EF4-FFF2-40B4-BE49-F238E27FC236}">
                <a16:creationId xmlns:a16="http://schemas.microsoft.com/office/drawing/2014/main" id="{B2492124-74C4-4430-875B-F9D5264CAD5B}"/>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Audit provenance</a:t>
            </a:r>
          </a:p>
        </p:txBody>
      </p:sp>
      <p:sp>
        <p:nvSpPr>
          <p:cNvPr id="6" name="">
            <a:extLst xmlns:a="http://schemas.openxmlformats.org/drawingml/2006/main">
              <a:ext uri="{FF2B5EF4-FFF2-40B4-BE49-F238E27FC236}">
                <a16:creationId xmlns:a16="http://schemas.microsoft.com/office/drawing/2014/main" id="{5975A830-D251-48F5-8ACB-5F240215C044}"/>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04 / 09</a:t>
            </a:r>
          </a:p>
        </p:txBody>
      </p:sp>
    </p:spTree>
    <p:extLst>
      <p:ext uri="{BB962C8B-B14F-4D97-AF65-F5344CB8AC3E}">
        <p14:creationId xmlns:p14="http://schemas.microsoft.com/office/powerpoint/2010/main" val="2081083909"/>
      </p:ext>
    </p:extLst>
  </p:cSld>
</p:sld>
</file>

<file path=ppt/slides/slide5.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cd19b2583b54621"/>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998669-BBBC-4398-82C8-049A302572DB}"/>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Generative UI with primitives</a:t>
            </a:r>
          </a:p>
        </p:txBody>
      </p:sp>
      <p:sp>
        <p:nvSpPr>
          <p:cNvPr id="3" name="">
            <a:extLst xmlns:a="http://schemas.openxmlformats.org/drawingml/2006/main">
              <a:ext uri="{FF2B5EF4-FFF2-40B4-BE49-F238E27FC236}">
                <a16:creationId xmlns:a16="http://schemas.microsoft.com/office/drawing/2014/main" id="{4CF5E5CE-AAAF-4734-BD23-439DB4E34703}"/>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A model proposes structured UI</a:t>
            </a:r>
          </a:p>
        </p:txBody>
      </p:sp>
      <p:sp>
        <p:nvSpPr>
          <p:cNvPr id="4" name="">
            <a:extLst xmlns:a="http://schemas.openxmlformats.org/drawingml/2006/main">
              <a:ext uri="{FF2B5EF4-FFF2-40B4-BE49-F238E27FC236}">
                <a16:creationId xmlns:a16="http://schemas.microsoft.com/office/drawing/2014/main" id="{6AD5F329-0684-49B3-9F88-AE718B4D595A}"/>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Code validates and bounds it</a:t>
            </a:r>
          </a:p>
        </p:txBody>
      </p:sp>
      <p:sp>
        <p:nvSpPr>
          <p:cNvPr id="5" name="">
            <a:extLst xmlns:a="http://schemas.openxmlformats.org/drawingml/2006/main">
              <a:ext uri="{FF2B5EF4-FFF2-40B4-BE49-F238E27FC236}">
                <a16:creationId xmlns:a16="http://schemas.microsoft.com/office/drawing/2014/main" id="{E0E66C7B-77D8-4064-96C6-54C978E13B60}"/>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The renderer controls output</a:t>
            </a:r>
          </a:p>
        </p:txBody>
      </p:sp>
      <p:sp>
        <p:nvSpPr>
          <p:cNvPr id="6" name="">
            <a:extLst xmlns:a="http://schemas.openxmlformats.org/drawingml/2006/main">
              <a:ext uri="{FF2B5EF4-FFF2-40B4-BE49-F238E27FC236}">
                <a16:creationId xmlns:a16="http://schemas.microsoft.com/office/drawing/2014/main" id="{E9A48407-480D-4114-A783-899835071923}"/>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05 / 09</a:t>
            </a:r>
          </a:p>
        </p:txBody>
      </p:sp>
    </p:spTree>
    <p:extLst>
      <p:ext uri="{BB962C8B-B14F-4D97-AF65-F5344CB8AC3E}">
        <p14:creationId xmlns:p14="http://schemas.microsoft.com/office/powerpoint/2010/main" val="1948764088"/>
      </p:ext>
    </p:extLst>
  </p:cSld>
</p:sld>
</file>

<file path=ppt/slides/slide6.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d088c80f8c443c5"/>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9297E0-65BD-4459-ADA4-24E8F97B465C}"/>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One contract across clients</a:t>
            </a:r>
          </a:p>
        </p:txBody>
      </p:sp>
      <p:sp>
        <p:nvSpPr>
          <p:cNvPr id="3" name="">
            <a:extLst xmlns:a="http://schemas.openxmlformats.org/drawingml/2006/main">
              <a:ext uri="{FF2B5EF4-FFF2-40B4-BE49-F238E27FC236}">
                <a16:creationId xmlns:a16="http://schemas.microsoft.com/office/drawing/2014/main" id="{687647E9-BCFA-44F5-9FD3-9A2B40F8E7A3}"/>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Primitives defines the vocabulary</a:t>
            </a:r>
          </a:p>
        </p:txBody>
      </p:sp>
      <p:sp>
        <p:nvSpPr>
          <p:cNvPr id="4" name="">
            <a:extLst xmlns:a="http://schemas.openxmlformats.org/drawingml/2006/main">
              <a:ext uri="{FF2B5EF4-FFF2-40B4-BE49-F238E27FC236}">
                <a16:creationId xmlns:a16="http://schemas.microsoft.com/office/drawing/2014/main" id="{C3E1D2D6-12C3-4306-9EAD-32F9544921D1}"/>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Projection renders and adapts</a:t>
            </a:r>
          </a:p>
        </p:txBody>
      </p:sp>
      <p:sp>
        <p:nvSpPr>
          <p:cNvPr id="5" name="">
            <a:extLst xmlns:a="http://schemas.openxmlformats.org/drawingml/2006/main">
              <a:ext uri="{FF2B5EF4-FFF2-40B4-BE49-F238E27FC236}">
                <a16:creationId xmlns:a16="http://schemas.microsoft.com/office/drawing/2014/main" id="{C57B7BF8-B3A0-4482-99F6-DD125B5921E8}"/>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Deep orchestrates the work</a:t>
            </a:r>
          </a:p>
        </p:txBody>
      </p:sp>
      <p:sp>
        <p:nvSpPr>
          <p:cNvPr id="6" name="">
            <a:extLst xmlns:a="http://schemas.openxmlformats.org/drawingml/2006/main">
              <a:ext uri="{FF2B5EF4-FFF2-40B4-BE49-F238E27FC236}">
                <a16:creationId xmlns:a16="http://schemas.microsoft.com/office/drawing/2014/main" id="{72FEED36-48F9-4C15-9555-9F6AD1A86F06}"/>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06 / 09</a:t>
            </a:r>
          </a:p>
        </p:txBody>
      </p:sp>
    </p:spTree>
    <p:extLst>
      <p:ext uri="{BB962C8B-B14F-4D97-AF65-F5344CB8AC3E}">
        <p14:creationId xmlns:p14="http://schemas.microsoft.com/office/powerpoint/2010/main" val="1735357661"/>
      </p:ext>
    </p:extLst>
  </p:cSld>
</p:sld>
</file>

<file path=ppt/slides/slide7.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e445865662452b"/>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32E1F7-D511-4494-8335-B95ED7A3696C}"/>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Open protocols and reusable parts</a:t>
            </a:r>
          </a:p>
        </p:txBody>
      </p:sp>
      <p:sp>
        <p:nvSpPr>
          <p:cNvPr id="3" name="">
            <a:extLst xmlns:a="http://schemas.openxmlformats.org/drawingml/2006/main">
              <a:ext uri="{FF2B5EF4-FFF2-40B4-BE49-F238E27FC236}">
                <a16:creationId xmlns:a16="http://schemas.microsoft.com/office/drawing/2014/main" id="{CCC854C1-4E57-40B2-AB41-A0DDBC140B93}"/>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MCP and Agent2Agent</a:t>
            </a:r>
          </a:p>
        </p:txBody>
      </p:sp>
      <p:sp>
        <p:nvSpPr>
          <p:cNvPr id="4" name="">
            <a:extLst xmlns:a="http://schemas.openxmlformats.org/drawingml/2006/main">
              <a:ext uri="{FF2B5EF4-FFF2-40B4-BE49-F238E27FC236}">
                <a16:creationId xmlns:a16="http://schemas.microsoft.com/office/drawing/2014/main" id="{D890FAED-97DB-4D52-BD84-36F34430C5C9}"/>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Versioned contracts</a:t>
            </a:r>
          </a:p>
        </p:txBody>
      </p:sp>
      <p:sp>
        <p:nvSpPr>
          <p:cNvPr id="5" name="">
            <a:extLst xmlns:a="http://schemas.openxmlformats.org/drawingml/2006/main">
              <a:ext uri="{FF2B5EF4-FFF2-40B4-BE49-F238E27FC236}">
                <a16:creationId xmlns:a16="http://schemas.microsoft.com/office/drawing/2014/main" id="{98C34AD2-EA92-485F-B99C-A21B11B1E541}"/>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Independent examples</a:t>
            </a:r>
          </a:p>
        </p:txBody>
      </p:sp>
      <p:sp>
        <p:nvSpPr>
          <p:cNvPr id="6" name="">
            <a:extLst xmlns:a="http://schemas.openxmlformats.org/drawingml/2006/main">
              <a:ext uri="{FF2B5EF4-FFF2-40B4-BE49-F238E27FC236}">
                <a16:creationId xmlns:a16="http://schemas.microsoft.com/office/drawing/2014/main" id="{DFB8D8C3-4D36-41A4-92F4-C0C8A38EFB5E}"/>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07 / 09</a:t>
            </a:r>
          </a:p>
        </p:txBody>
      </p:sp>
    </p:spTree>
    <p:extLst>
      <p:ext uri="{BB962C8B-B14F-4D97-AF65-F5344CB8AC3E}">
        <p14:creationId xmlns:p14="http://schemas.microsoft.com/office/powerpoint/2010/main" val="1650750433"/>
      </p:ext>
    </p:extLst>
  </p:cSld>
</p:sld>
</file>

<file path=ppt/slides/slide8.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f7637a20f1e48c2"/>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64C4CF-EBE4-4E33-A70A-36DB734703E1}"/>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Work that moves this forward</a:t>
            </a:r>
          </a:p>
        </p:txBody>
      </p:sp>
      <p:sp>
        <p:nvSpPr>
          <p:cNvPr id="3" name="">
            <a:extLst xmlns:a="http://schemas.openxmlformats.org/drawingml/2006/main">
              <a:ext uri="{FF2B5EF4-FFF2-40B4-BE49-F238E27FC236}">
                <a16:creationId xmlns:a16="http://schemas.microsoft.com/office/drawing/2014/main" id="{93029799-9ADA-4770-9CCC-13D33414B035}"/>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A5A7FF"/>
                </a:solidFill>
                <a:latin typeface="Segoe UI"/>
                <a:ea typeface="Segoe UI"/>
                <a:cs typeface="Segoe UI"/>
              </a:defRPr>
            </a:pPr>
            <a:r>
              <a:rPr sz="5850" b="0">
                <a:solidFill>
                  <a:srgbClr val="A5A7FF"/>
                </a:solidFill>
                <a:latin typeface="Segoe UI"/>
                <a:ea typeface="Segoe UI"/>
                <a:cs typeface="Segoe UI"/>
              </a:rPr>
              <a:t>Security and protocol tests</a:t>
            </a:r>
          </a:p>
        </p:txBody>
      </p:sp>
      <p:sp>
        <p:nvSpPr>
          <p:cNvPr id="4" name="">
            <a:extLst xmlns:a="http://schemas.openxmlformats.org/drawingml/2006/main">
              <a:ext uri="{FF2B5EF4-FFF2-40B4-BE49-F238E27FC236}">
                <a16:creationId xmlns:a16="http://schemas.microsoft.com/office/drawing/2014/main" id="{E79F5B66-C7FC-41D0-93F8-81D57C804054}"/>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Reliable voice on mobile</a:t>
            </a:r>
          </a:p>
        </p:txBody>
      </p:sp>
      <p:sp>
        <p:nvSpPr>
          <p:cNvPr id="5" name="">
            <a:extLst xmlns:a="http://schemas.openxmlformats.org/drawingml/2006/main">
              <a:ext uri="{FF2B5EF4-FFF2-40B4-BE49-F238E27FC236}">
                <a16:creationId xmlns:a16="http://schemas.microsoft.com/office/drawing/2014/main" id="{777D2DD3-739E-4493-A85D-186996B06DCA}"/>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0">
                <a:solidFill>
                  <a:srgbClr val="C9CCDE"/>
                </a:solidFill>
                <a:latin typeface="Segoe UI"/>
                <a:ea typeface="Segoe UI"/>
                <a:cs typeface="Segoe UI"/>
              </a:defRPr>
            </a:pPr>
            <a:r>
              <a:rPr sz="5850" b="0">
                <a:solidFill>
                  <a:srgbClr val="C9CCDE"/>
                </a:solidFill>
                <a:latin typeface="Segoe UI"/>
                <a:ea typeface="Segoe UI"/>
                <a:cs typeface="Segoe UI"/>
              </a:rPr>
              <a:t>Client parity and reuse</a:t>
            </a:r>
          </a:p>
        </p:txBody>
      </p:sp>
      <p:sp>
        <p:nvSpPr>
          <p:cNvPr id="6" name="">
            <a:extLst xmlns:a="http://schemas.openxmlformats.org/drawingml/2006/main">
              <a:ext uri="{FF2B5EF4-FFF2-40B4-BE49-F238E27FC236}">
                <a16:creationId xmlns:a16="http://schemas.microsoft.com/office/drawing/2014/main" id="{C487EDC1-6840-4076-9057-4EC0BE8A2242}"/>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08 / 09</a:t>
            </a:r>
          </a:p>
        </p:txBody>
      </p:sp>
    </p:spTree>
    <p:extLst>
      <p:ext uri="{BB962C8B-B14F-4D97-AF65-F5344CB8AC3E}">
        <p14:creationId xmlns:p14="http://schemas.microsoft.com/office/powerpoint/2010/main" val="2047971325"/>
      </p:ext>
    </p:extLst>
  </p:cSld>
</p:sld>
</file>

<file path=ppt/slides/slide9.xml><?xml version="1.0" encoding="utf-8"?>
<p:sld xmlns:p="http://schemas.openxmlformats.org/presentationml/2006/main">
  <p:cSld>
    <p:bg>
      <p:bgPr>
        <a:solidFill xmlns:a="http://schemas.openxmlformats.org/drawingml/2006/main">
          <a:srgbClr val="0F1221"/>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274189e8d564237"/>
          <a:stretch xmlns:a="http://schemas.openxmlformats.org/drawingml/2006/main"/>
        </p:blipFill>
        <p:spPr>
          <a:xfrm xmlns:a="http://schemas.openxmlformats.org/drawingml/2006/main">
            <a:off x="1066800" y="668856"/>
            <a:ext cx="3333750" cy="85303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6C35B43-BCDC-43FA-906E-7D137BC67E28}"/>
              </a:ext>
            </a:extLst>
          </p:cNvPr>
          <p:cNvSpPr>
            <a:spLocks xmlns:a="http://schemas.openxmlformats.org/drawingml/2006/main" noGrp="1"/>
          </p:cNvSpPr>
          <p:nvPr/>
        </p:nvSpPr>
        <p:spPr>
          <a:xfrm xmlns:a="http://schemas.openxmlformats.org/drawingml/2006/main">
            <a:off x="1066800" y="2381250"/>
            <a:ext cx="16097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050" b="1">
                <a:solidFill>
                  <a:srgbClr val="F3F4F6"/>
                </a:solidFill>
                <a:latin typeface="Segoe UI"/>
                <a:ea typeface="Segoe UI"/>
                <a:cs typeface="Segoe UI"/>
              </a:defRPr>
            </a:pPr>
            <a:r>
              <a:rPr sz="7050" b="1">
                <a:solidFill>
                  <a:srgbClr val="F3F4F6"/>
                </a:solidFill>
                <a:latin typeface="Segoe UI"/>
                <a:ea typeface="Segoe UI"/>
                <a:cs typeface="Segoe UI"/>
              </a:rPr>
              <a:t>A place to contribute</a:t>
            </a:r>
          </a:p>
        </p:txBody>
      </p:sp>
      <p:sp>
        <p:nvSpPr>
          <p:cNvPr id="3" name="">
            <a:extLst xmlns:a="http://schemas.openxmlformats.org/drawingml/2006/main">
              <a:ext uri="{FF2B5EF4-FFF2-40B4-BE49-F238E27FC236}">
                <a16:creationId xmlns:a16="http://schemas.microsoft.com/office/drawing/2014/main" id="{62D19430-C9F3-4BF8-98E6-F3E6F3942C1D}"/>
              </a:ext>
            </a:extLst>
          </p:cNvPr>
          <p:cNvSpPr>
            <a:spLocks xmlns:a="http://schemas.openxmlformats.org/drawingml/2006/main" noGrp="1"/>
          </p:cNvSpPr>
          <p:nvPr/>
        </p:nvSpPr>
        <p:spPr>
          <a:xfrm xmlns:a="http://schemas.openxmlformats.org/drawingml/2006/main">
            <a:off x="1104900" y="44767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A5A7FF"/>
                </a:solidFill>
                <a:latin typeface="Segoe UI"/>
                <a:ea typeface="Segoe UI"/>
                <a:cs typeface="Segoe UI"/>
              </a:defRPr>
            </a:pPr>
            <a:r>
              <a:rPr sz="5250" b="0">
                <a:solidFill>
                  <a:srgbClr val="A5A7FF"/>
                </a:solidFill>
                <a:latin typeface="Segoe UI"/>
                <a:ea typeface="Segoe UI"/>
                <a:cs typeface="Segoe UI"/>
              </a:rPr>
              <a:t>Request a task reservation</a:t>
            </a:r>
          </a:p>
        </p:txBody>
      </p:sp>
      <p:sp>
        <p:nvSpPr>
          <p:cNvPr id="4" name="">
            <a:extLst xmlns:a="http://schemas.openxmlformats.org/drawingml/2006/main">
              <a:ext uri="{FF2B5EF4-FFF2-40B4-BE49-F238E27FC236}">
                <a16:creationId xmlns:a16="http://schemas.microsoft.com/office/drawing/2014/main" id="{0AAA5BA0-705C-45CC-BF78-7B8448DC0911}"/>
              </a:ext>
            </a:extLst>
          </p:cNvPr>
          <p:cNvSpPr>
            <a:spLocks xmlns:a="http://schemas.openxmlformats.org/drawingml/2006/main" noGrp="1"/>
          </p:cNvSpPr>
          <p:nvPr/>
        </p:nvSpPr>
        <p:spPr>
          <a:xfrm xmlns:a="http://schemas.openxmlformats.org/drawingml/2006/main">
            <a:off x="1104900" y="55816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C9CCDE"/>
                </a:solidFill>
                <a:latin typeface="Segoe UI"/>
                <a:ea typeface="Segoe UI"/>
                <a:cs typeface="Segoe UI"/>
              </a:defRPr>
            </a:pPr>
            <a:r>
              <a:rPr sz="5250" b="0">
                <a:solidFill>
                  <a:srgbClr val="C9CCDE"/>
                </a:solidFill>
                <a:latin typeface="Segoe UI"/>
                <a:ea typeface="Segoe UI"/>
                <a:cs typeface="Segoe UI"/>
              </a:rPr>
              <a:t>Ship a reviewed contribution</a:t>
            </a:r>
          </a:p>
        </p:txBody>
      </p:sp>
      <p:sp>
        <p:nvSpPr>
          <p:cNvPr id="5" name="">
            <a:extLst xmlns:a="http://schemas.openxmlformats.org/drawingml/2006/main">
              <a:ext uri="{FF2B5EF4-FFF2-40B4-BE49-F238E27FC236}">
                <a16:creationId xmlns:a16="http://schemas.microsoft.com/office/drawing/2014/main" id="{9ABF9E43-FB5A-40F3-BE09-539FD14737B2}"/>
              </a:ext>
            </a:extLst>
          </p:cNvPr>
          <p:cNvSpPr>
            <a:spLocks xmlns:a="http://schemas.openxmlformats.org/drawingml/2006/main" noGrp="1"/>
          </p:cNvSpPr>
          <p:nvPr/>
        </p:nvSpPr>
        <p:spPr>
          <a:xfrm xmlns:a="http://schemas.openxmlformats.org/drawingml/2006/main">
            <a:off x="1104900" y="66865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C9CCDE"/>
                </a:solidFill>
                <a:latin typeface="Segoe UI"/>
                <a:ea typeface="Segoe UI"/>
                <a:cs typeface="Segoe UI"/>
              </a:defRPr>
            </a:pPr>
            <a:r>
              <a:rPr sz="5250" b="0">
                <a:solidFill>
                  <a:srgbClr val="C9CCDE"/>
                </a:solidFill>
                <a:latin typeface="Segoe UI"/>
                <a:ea typeface="Segoe UI"/>
                <a:cs typeface="Segoe UI"/>
              </a:rPr>
              <a:t>Earn recognition points</a:t>
            </a:r>
          </a:p>
        </p:txBody>
      </p:sp>
      <p:sp>
        <p:nvSpPr>
          <p:cNvPr id="6" name="">
            <a:extLst xmlns:a="http://schemas.openxmlformats.org/drawingml/2006/main">
              <a:ext uri="{FF2B5EF4-FFF2-40B4-BE49-F238E27FC236}">
                <a16:creationId xmlns:a16="http://schemas.microsoft.com/office/drawing/2014/main" id="{FFC59FA0-207E-4F4D-8550-472E193C3EA6}"/>
              </a:ext>
            </a:extLst>
          </p:cNvPr>
          <p:cNvSpPr>
            <a:spLocks xmlns:a="http://schemas.openxmlformats.org/drawingml/2006/main" noGrp="1"/>
          </p:cNvSpPr>
          <p:nvPr/>
        </p:nvSpPr>
        <p:spPr>
          <a:xfrm xmlns:a="http://schemas.openxmlformats.org/drawingml/2006/main">
            <a:off x="1104900" y="7791450"/>
            <a:ext cx="1571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9AD9DD"/>
                </a:solidFill>
                <a:latin typeface="Segoe UI"/>
                <a:ea typeface="Segoe UI"/>
                <a:cs typeface="Segoe UI"/>
              </a:defRPr>
            </a:pPr>
            <a:r>
              <a:rPr sz="5250" b="0">
                <a:solidFill>
                  <a:srgbClr val="9AD9DD"/>
                </a:solidFill>
                <a:latin typeface="Segoe UI"/>
                <a:ea typeface="Segoe UI"/>
                <a:cs typeface="Segoe UI"/>
              </a:rPr>
              <a:t>astraldeep.github.io</a:t>
            </a:r>
          </a:p>
        </p:txBody>
      </p:sp>
      <p:sp>
        <p:nvSpPr>
          <p:cNvPr id="7" name="">
            <a:extLst xmlns:a="http://schemas.openxmlformats.org/drawingml/2006/main">
              <a:ext uri="{FF2B5EF4-FFF2-40B4-BE49-F238E27FC236}">
                <a16:creationId xmlns:a16="http://schemas.microsoft.com/office/drawing/2014/main" id="{7AC24FD2-596F-4CDB-84C4-452691E4BDDB}"/>
              </a:ext>
            </a:extLst>
          </p:cNvPr>
          <p:cNvSpPr>
            <a:spLocks xmlns:a="http://schemas.openxmlformats.org/drawingml/2006/main" noGrp="1"/>
          </p:cNvSpPr>
          <p:nvPr/>
        </p:nvSpPr>
        <p:spPr>
          <a:xfrm xmlns:a="http://schemas.openxmlformats.org/drawingml/2006/main">
            <a:off x="15811500" y="857250"/>
            <a:ext cx="161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969CB6"/>
                </a:solidFill>
                <a:latin typeface="Segoe UI"/>
                <a:ea typeface="Segoe UI"/>
                <a:cs typeface="Segoe UI"/>
              </a:defRPr>
            </a:pPr>
            <a:r>
              <a:rPr sz="2250" b="0">
                <a:solidFill>
                  <a:srgbClr val="969CB6"/>
                </a:solidFill>
                <a:latin typeface="Segoe UI"/>
                <a:ea typeface="Segoe UI"/>
                <a:cs typeface="Segoe UI"/>
              </a:rPr>
              <a:t>09 / 09</a:t>
            </a:r>
          </a:p>
        </p:txBody>
      </p:sp>
    </p:spTree>
    <p:extLst>
      <p:ext uri="{BB962C8B-B14F-4D97-AF65-F5344CB8AC3E}">
        <p14:creationId xmlns:p14="http://schemas.microsoft.com/office/powerpoint/2010/main" val="1241762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2026-10-01T05:00:23.5390000Z</dcterms:created>
  <dcterms:modified xsi:type="dcterms:W3CDTF">2026-10-01T05:00:23.5390000Z</dcterms:modified>
</coreProperties>
</file>